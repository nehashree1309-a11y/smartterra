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Bricolage Grotesque Bold" panose="020B0604020202020204" charset="0"/>
      <p:regular r:id="rId10"/>
    </p:embeddedFont>
    <p:embeddedFont>
      <p:font typeface="DM Sans" pitchFamily="2" charset="0"/>
      <p:regular r:id="rId11"/>
    </p:embeddedFont>
    <p:embeddedFont>
      <p:font typeface="DM Sans Bold" panose="020B0604020202020204" charset="0"/>
      <p:regular r:id="rId12"/>
    </p:embeddedFont>
    <p:embeddedFont>
      <p:font typeface="DM Sans Medium" pitchFamily="2" charset="0"/>
      <p:regular r:id="rId13"/>
    </p:embeddedFont>
    <p:embeddedFont>
      <p:font typeface="DM Sans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461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E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hbuddy.in/ps/SIH26018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https://dolr.gov.in/en/programmes-schemes/dilrmp-2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-terra-gpn7.vercel.app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ehashree1309-a11y/SmartTer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660383" y="2665710"/>
            <a:ext cx="8635784" cy="149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000" b="1" kern="0" spc="-150" dirty="0">
                <a:solidFill>
                  <a:srgbClr val="3A2E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LAND DIGITIZATION</a:t>
            </a:r>
            <a:endParaRPr lang="en-US" sz="6000" dirty="0"/>
          </a:p>
        </p:txBody>
      </p:sp>
      <p:sp>
        <p:nvSpPr>
          <p:cNvPr id="6" name="Shape 2"/>
          <p:cNvSpPr/>
          <p:nvPr/>
        </p:nvSpPr>
        <p:spPr>
          <a:xfrm>
            <a:off x="660383" y="4440138"/>
            <a:ext cx="2849789" cy="69751"/>
          </a:xfrm>
          <a:prstGeom prst="roundRect">
            <a:avLst>
              <a:gd name="adj" fmla="val 49999"/>
            </a:avLst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660383" y="4946551"/>
            <a:ext cx="8635784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dirty="0">
                <a:solidFill>
                  <a:srgbClr val="3A2E26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Intelligent Land Record Digitization and Validation System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60383" y="5458520"/>
            <a:ext cx="8635784" cy="96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Problem Statement Title-</a:t>
            </a:r>
            <a:r>
              <a:rPr lang="en-US" sz="160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Intelligent Land Record Digitization and Validation System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PS Category-</a:t>
            </a:r>
            <a:r>
              <a:rPr lang="en-US" sz="160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Software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356" y="0"/>
            <a:ext cx="2438339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660383" y="1174552"/>
            <a:ext cx="9092973" cy="162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11" dirty="0">
                <a:solidFill>
                  <a:srgbClr val="3A2E2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60383" y="1414363"/>
            <a:ext cx="8635784" cy="682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500" b="1" kern="0" spc="-137" dirty="0">
                <a:solidFill>
                  <a:srgbClr val="3A2E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SmartTerra</a:t>
            </a:r>
            <a:endParaRPr lang="en-US" sz="5500" dirty="0"/>
          </a:p>
        </p:txBody>
      </p:sp>
      <p:sp>
        <p:nvSpPr>
          <p:cNvPr id="7" name="Shape 3"/>
          <p:cNvSpPr/>
          <p:nvPr/>
        </p:nvSpPr>
        <p:spPr>
          <a:xfrm>
            <a:off x="660383" y="2331938"/>
            <a:ext cx="2849789" cy="57150"/>
          </a:xfrm>
          <a:prstGeom prst="roundRect">
            <a:avLst>
              <a:gd name="adj" fmla="val 49999"/>
            </a:avLst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660383" y="2759273"/>
            <a:ext cx="8635784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750" dirty="0">
                <a:solidFill>
                  <a:srgbClr val="3A2E26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Transforming Crumbling Paper Records into Instant, Tamper-Proof Digital Truth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60383" y="3230066"/>
            <a:ext cx="8635784" cy="49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1. Reads old deeds:</a:t>
            </a: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AI reads faded handwritten deeds in Tamil, Hindi, Telugu and Urdu and explains them in plain language.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0383" y="3897809"/>
            <a:ext cx="8635784" cy="250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</a:t>
            </a:r>
            <a:r>
              <a:rPr lang="en-US" sz="145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Rebuilds ownership:</a:t>
            </a: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It automatically builds the full owner timeline from the earliest allotment to the latest deed.</a:t>
            </a:r>
            <a:endParaRPr lang="en-US" sz="1450" dirty="0"/>
          </a:p>
          <a:p>
            <a:pPr marL="0" indent="0" algn="l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</a:t>
            </a:r>
            <a:r>
              <a:rPr lang="en-US" sz="145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Checks boundaries:</a:t>
            </a: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It compares the North/South/East/West boundaries with the declared area to catch missing land and encroachments.</a:t>
            </a:r>
            <a:endParaRPr lang="en-US" sz="1450" dirty="0"/>
          </a:p>
          <a:p>
            <a:pPr marL="0" indent="0" algn="l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</a:t>
            </a:r>
            <a:r>
              <a:rPr lang="en-US" sz="145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Explains rejections:</a:t>
            </a: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It gives the exact reason for a rejection and step-by-step instructions to fix it at the Sub-Registrar Office.</a:t>
            </a:r>
            <a:endParaRPr lang="en-US" sz="14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</a:t>
            </a:r>
            <a:r>
              <a:rPr lang="en-US" sz="145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Prevents tampering:</a:t>
            </a:r>
            <a:r>
              <a:rPr lang="en-US" sz="145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SHA-256 fingerprint on every verified record blocks altered or duplicate registrations.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60383" y="6568777"/>
            <a:ext cx="2513942" cy="292596"/>
          </a:xfrm>
          <a:prstGeom prst="roundRect">
            <a:avLst>
              <a:gd name="adj" fmla="val 45718"/>
            </a:avLst>
          </a:prstGeom>
          <a:solidFill>
            <a:srgbClr val="F0E8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71803" y="6624439"/>
            <a:ext cx="2900687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kern="0" spc="12" dirty="0">
                <a:solidFill>
                  <a:srgbClr val="3A2E2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Land records · Validation · Trust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356" y="0"/>
            <a:ext cx="24383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584185" y="1136551"/>
            <a:ext cx="91691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kern="0" spc="11" dirty="0">
                <a:solidFill>
                  <a:srgbClr val="3A2E2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84185" y="1406723"/>
            <a:ext cx="8788180" cy="54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kern="0" spc="-63" dirty="0">
                <a:solidFill>
                  <a:srgbClr val="3A2E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TECHNICAL APPROACH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584185" y="2230735"/>
            <a:ext cx="2197045" cy="69751"/>
          </a:xfrm>
          <a:prstGeom prst="roundRect">
            <a:avLst>
              <a:gd name="adj" fmla="val 49999"/>
            </a:avLst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84185" y="2552998"/>
            <a:ext cx="8788180" cy="2447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High-Accuracy Vision AI:</a:t>
            </a:r>
            <a:r>
              <a:rPr lang="en-US" sz="160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Reads cursive handwritten regional scripts out of the box, with no custom model training needed.</a:t>
            </a:r>
          </a:p>
          <a:p>
            <a:pPr algn="l">
              <a:lnSpc>
                <a:spcPct val="117000"/>
              </a:lnSpc>
              <a:buSzPct val="100000"/>
            </a:pP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Zero-Lag Architecture (&lt; 3 Seconds):</a:t>
            </a:r>
            <a:r>
              <a:rPr lang="en-US" sz="160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Browser-side compression cuts uploads by 80%, and extraction, translation and boundary math run in parallel.</a:t>
            </a:r>
          </a:p>
          <a:p>
            <a:pPr algn="l">
              <a:lnSpc>
                <a:spcPct val="117000"/>
              </a:lnSpc>
              <a:buSzPct val="100000"/>
            </a:pP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0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Lightweight Computational Footprint:</a:t>
            </a:r>
            <a:r>
              <a:rPr lang="en-US" sz="160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Boundary calculations and SHA-256 hashing run in milliseconds on a standard Node.js or Python backend.</a:t>
            </a:r>
          </a:p>
          <a:p>
            <a:pPr algn="l">
              <a:lnSpc>
                <a:spcPct val="117000"/>
              </a:lnSpc>
              <a:buSzPct val="100000"/>
            </a:pP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00" b="1" dirty="0">
                <a:solidFill>
                  <a:srgbClr val="3A2E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Integration-Ready (API-First):</a:t>
            </a:r>
            <a:r>
              <a:rPr lang="en-US" sz="1600" dirty="0">
                <a:solidFill>
                  <a:srgbClr val="3A2E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Modular REST APIs plug into existing systems like Bhoomi, AnyRoR, Tamil Nilam and bank portals without an overhaul.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356" y="0"/>
            <a:ext cx="24383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84185" y="984151"/>
            <a:ext cx="91691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kern="0" spc="11" dirty="0">
                <a:solidFill>
                  <a:srgbClr val="3A2E2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IT CAN SHIP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84185" y="1254323"/>
            <a:ext cx="8788180" cy="54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kern="0" spc="-63" dirty="0">
                <a:solidFill>
                  <a:srgbClr val="3A2E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FEASIBILITY AND VIABILITY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584185" y="2078335"/>
            <a:ext cx="2197045" cy="69751"/>
          </a:xfrm>
          <a:prstGeom prst="roundRect">
            <a:avLst>
              <a:gd name="adj" fmla="val 49999"/>
            </a:avLst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84185" y="2400598"/>
            <a:ext cx="4317892" cy="139323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87380" y="2578398"/>
            <a:ext cx="355591" cy="355600"/>
          </a:xfrm>
          <a:prstGeom prst="ellipse">
            <a:avLst/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8816" y="2654598"/>
            <a:ext cx="8222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6166" y="2552998"/>
            <a:ext cx="3352716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AI-Powered OCR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46166" y="3072507"/>
            <a:ext cx="335271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and extracts data from multilingual land documents.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54474" y="2400598"/>
            <a:ext cx="4317892" cy="139323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257668" y="2576513"/>
            <a:ext cx="359461" cy="359470"/>
          </a:xfrm>
          <a:prstGeom prst="ellipse">
            <a:avLst/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308467" y="2654598"/>
            <a:ext cx="8674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20324" y="2552998"/>
            <a:ext cx="3348847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Validation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20324" y="3072507"/>
            <a:ext cx="334884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Verifies ownership, boundaries, area, and document details.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84185" y="3946128"/>
            <a:ext cx="4317892" cy="139323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87380" y="4119166"/>
            <a:ext cx="365215" cy="365224"/>
          </a:xfrm>
          <a:prstGeom prst="ellipse">
            <a:avLst/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8179" y="4200128"/>
            <a:ext cx="87320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55790" y="4098528"/>
            <a:ext cx="3343092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Scalable Architecture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55790" y="4618038"/>
            <a:ext cx="334309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Easily integrates with existing digital land systems.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54474" y="3946128"/>
            <a:ext cx="4317892" cy="139323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257668" y="4115197"/>
            <a:ext cx="373152" cy="373162"/>
          </a:xfrm>
          <a:prstGeom prst="ellipse">
            <a:avLst/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308467" y="4200128"/>
            <a:ext cx="88114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34016" y="4098528"/>
            <a:ext cx="3335155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Cost-Effective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834016" y="4618038"/>
            <a:ext cx="333515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lightweight, readily available technologies.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4185" y="5491659"/>
            <a:ext cx="8788180" cy="110877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787380" y="5662712"/>
            <a:ext cx="369085" cy="369094"/>
          </a:xfrm>
          <a:prstGeom prst="ellipse">
            <a:avLst/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838179" y="5745659"/>
            <a:ext cx="8770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359660" y="5644059"/>
            <a:ext cx="7809511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Prototype-Ready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359660" y="6163568"/>
            <a:ext cx="801270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be demonstrated using sample land records.</a:t>
            </a:r>
            <a:endParaRPr lang="en-US" sz="16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356" y="0"/>
            <a:ext cx="24383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932513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507987" y="1330523"/>
            <a:ext cx="8915177" cy="54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kern="0" spc="-63" dirty="0">
                <a:solidFill>
                  <a:srgbClr val="3A2E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IMPACT AND BENEFITS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507987" y="2154535"/>
            <a:ext cx="2228794" cy="69751"/>
          </a:xfrm>
          <a:prstGeom prst="roundRect">
            <a:avLst>
              <a:gd name="adj" fmla="val 49999"/>
            </a:avLst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507987" y="2476798"/>
            <a:ext cx="4457588" cy="2088158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2578441"/>
            <a:ext cx="507987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166" y="2578398"/>
            <a:ext cx="3492413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Massive Market &amp; Social Urgency: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346166" y="3325515"/>
            <a:ext cx="349241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 disputes make up 66% of India's civil litigation, with over ₹1.5 lakh crore locked up in property cases.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965576" y="2476798"/>
            <a:ext cx="4457588" cy="2088158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573" y="2578441"/>
            <a:ext cx="507987" cy="508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03755" y="2578398"/>
            <a:ext cx="3492413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Drastic Time &amp; Cost Reduction: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5803755" y="3032919"/>
            <a:ext cx="3492413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Replaces ₹10,000+ title-search fees with an instant check, cuts bank title verification from 21 days to 3 seconds, and clears registrar backlogs.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07987" y="4564955"/>
            <a:ext cx="4457588" cy="2088158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84" y="4666599"/>
            <a:ext cx="507987" cy="508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46166" y="4666555"/>
            <a:ext cx="3492413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Alignment with National Policies: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1346166" y="5121077"/>
            <a:ext cx="349241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Directly supports the DILRMP (Digital India Land Records Modernization Programme) and Bhashini (National Language Translation Mission).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4965576" y="4564955"/>
            <a:ext cx="4457588" cy="2088158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573" y="4666599"/>
            <a:ext cx="507987" cy="508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03755" y="4666555"/>
            <a:ext cx="3492413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Citizen Empowerment &amp; Anti-Corruption: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5803755" y="5413673"/>
            <a:ext cx="349241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Explains why a document failed and how to fix it, so citizens don't need to pay middlemen at registrar offices.</a:t>
            </a:r>
            <a:endParaRPr lang="en-US" sz="16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356" y="0"/>
            <a:ext cx="2438339" cy="6932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660383" y="1896566"/>
            <a:ext cx="9092973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kern="0" spc="11" dirty="0">
                <a:solidFill>
                  <a:srgbClr val="3A2E2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SOURCES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0383" y="2166739"/>
            <a:ext cx="8635784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0" spc="-115" dirty="0">
                <a:solidFill>
                  <a:srgbClr val="3A2E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RESEARCH  AND</a:t>
            </a:r>
            <a:endParaRPr lang="en-US" sz="46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4600" b="1" kern="0" spc="-115" dirty="0">
                <a:solidFill>
                  <a:srgbClr val="3A2E26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REFERENCES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660383" y="3586361"/>
            <a:ext cx="2849789" cy="69751"/>
          </a:xfrm>
          <a:prstGeom prst="roundRect">
            <a:avLst>
              <a:gd name="adj" fmla="val 49999"/>
            </a:avLst>
          </a:prstGeom>
          <a:solidFill>
            <a:srgbClr val="E8DC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660383" y="3908623"/>
            <a:ext cx="8635784" cy="1106388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39776" y="4137223"/>
            <a:ext cx="835639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kern="0" spc="1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REFERENCE 01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39776" y="4448671"/>
            <a:ext cx="8356391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u="sng" dirty="0">
                <a:solidFill>
                  <a:srgbClr val="35291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https://www.sihbuddy.in/ps/SIH26018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60383" y="5319812"/>
            <a:ext cx="8635784" cy="1106388"/>
          </a:xfrm>
          <a:prstGeom prst="rect">
            <a:avLst/>
          </a:prstGeom>
          <a:solidFill>
            <a:srgbClr val="D9C3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939776" y="5548412"/>
            <a:ext cx="835639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kern="0" spc="1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REFERENCE 02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39776" y="5859859"/>
            <a:ext cx="8356391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u="sng" dirty="0">
                <a:solidFill>
                  <a:srgbClr val="35291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https://dolr.gov.in/en/programmes-schemes/dilrmp-2/</a:t>
            </a:r>
            <a:endParaRPr lang="en-US" sz="1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356" y="0"/>
            <a:ext cx="24383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6" descr="preencoded.png">
            <a:extLst>
              <a:ext uri="{FF2B5EF4-FFF2-40B4-BE49-F238E27FC236}">
                <a16:creationId xmlns:a16="http://schemas.microsoft.com/office/drawing/2014/main" id="{41B36943-8453-5DC9-2F83-BF8BF9078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356" y="0"/>
            <a:ext cx="2438339" cy="6932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18562B-9CEA-977D-C021-1B0080F4F643}"/>
              </a:ext>
            </a:extLst>
          </p:cNvPr>
          <p:cNvSpPr txBox="1"/>
          <p:nvPr/>
        </p:nvSpPr>
        <p:spPr>
          <a:xfrm>
            <a:off x="726141" y="878540"/>
            <a:ext cx="83730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dirty="0">
                <a:latin typeface="Bricolage Grotesque Bold" panose="020B0604020202020204" charset="0"/>
              </a:rPr>
              <a:t>PROJECT LINK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CE264-E08D-7EF4-849F-94BE24E261EE}"/>
              </a:ext>
            </a:extLst>
          </p:cNvPr>
          <p:cNvSpPr txBox="1"/>
          <p:nvPr/>
        </p:nvSpPr>
        <p:spPr>
          <a:xfrm>
            <a:off x="636494" y="2259106"/>
            <a:ext cx="84626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ricolage Grotesque Bold" panose="020B0604020202020204" charset="0"/>
              </a:rPr>
              <a:t>WEBSITE LINK - </a:t>
            </a:r>
            <a:r>
              <a:rPr lang="en-IN" dirty="0">
                <a:solidFill>
                  <a:srgbClr val="0070C0"/>
                </a:solidFill>
                <a:latin typeface="Bricolage Grotesque Bold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https://smart-terra-gpn7.vercel.app</a:t>
            </a:r>
            <a:endParaRPr lang="en-IN" dirty="0">
              <a:solidFill>
                <a:srgbClr val="0070C0"/>
              </a:solidFill>
              <a:latin typeface="Bricolage Grotesque Bold" panose="020B0604020202020204" charset="0"/>
            </a:endParaRPr>
          </a:p>
          <a:p>
            <a:endParaRPr lang="en-IN" dirty="0">
              <a:solidFill>
                <a:srgbClr val="0070C0"/>
              </a:solidFill>
              <a:latin typeface="Bricolage Grotesque Bold" panose="020B0604020202020204" charset="0"/>
            </a:endParaRPr>
          </a:p>
          <a:p>
            <a:endParaRPr lang="en-IN" dirty="0">
              <a:solidFill>
                <a:srgbClr val="0070C0"/>
              </a:solidFill>
              <a:latin typeface="Bricolage Grotesque Bold" panose="020B0604020202020204" charset="0"/>
            </a:endParaRPr>
          </a:p>
          <a:p>
            <a:endParaRPr lang="en-IN" dirty="0">
              <a:solidFill>
                <a:srgbClr val="0070C0"/>
              </a:solidFill>
              <a:latin typeface="Bricolage Grotesque 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ricolage Grotesque Bold" panose="020B0604020202020204" charset="0"/>
              </a:rPr>
              <a:t>GITHUB LINK - </a:t>
            </a:r>
            <a:r>
              <a:rPr lang="en-IN" dirty="0">
                <a:solidFill>
                  <a:srgbClr val="0070C0"/>
                </a:solidFill>
                <a:latin typeface="Bricolage Grotesque Bold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https://github.com/nehashree1309-a11y/SmartTerra</a:t>
            </a:r>
            <a:endParaRPr lang="en-IN" dirty="0">
              <a:solidFill>
                <a:srgbClr val="0070C0"/>
              </a:solidFill>
              <a:latin typeface="Bricolage Grotesque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972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5291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352917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497</Words>
  <Application>Microsoft Office PowerPoint</Application>
  <PresentationFormat>Widescreen</PresentationFormat>
  <Paragraphs>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DM Sans Medium</vt:lpstr>
      <vt:lpstr>DM Sans SemiBold</vt:lpstr>
      <vt:lpstr>Bricolage Grotesque Bold</vt:lpstr>
      <vt:lpstr>Arial</vt:lpstr>
      <vt:lpstr>DM Sans Bold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Priyanka</dc:creator>
  <cp:lastModifiedBy>Priya Karthik</cp:lastModifiedBy>
  <cp:revision>4</cp:revision>
  <dcterms:created xsi:type="dcterms:W3CDTF">2026-10-01T08:18:15Z</dcterms:created>
  <dcterms:modified xsi:type="dcterms:W3CDTF">2026-10-02T08:15:51Z</dcterms:modified>
</cp:coreProperties>
</file>